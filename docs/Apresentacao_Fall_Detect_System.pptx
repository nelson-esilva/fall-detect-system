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Sistema de Detecção de Quedas</a:t>
            </a:r>
            <a:br/>
            <a:r>
              <a:t>com Inteligência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96C7"/>
                </a:solidFill>
                <a:latin typeface="Segoe UI"/>
              </a:defRPr>
            </a:pPr>
            <a:r>
              <a:t>Deep Learning  •  ESP32  •  App Mobile  •  MQTT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840480"/>
            <a:ext cx="5486400" cy="1828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Nelson Emeliano Silva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Orientador: Prof. Angilberto Muniz Ferreira Sobrinho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PAIC/FAPEAM — Universidade do Estado do Amazonas (UEA)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Problema e Motivação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Segoe UI"/>
              </a:defRPr>
            </a:pPr>
            <a:r>
              <a:t>Quedas são a 2ª causa de morte acidental no mundo (OMS)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Segoe UI"/>
              </a:defRPr>
            </a:pPr>
            <a:r>
              <a:t>Idosos e pessoas com mobilidade reduzida são os mais afetados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Segoe UI"/>
              </a:defRPr>
            </a:pPr>
            <a:r>
              <a:t>Tempo de socorro é fator crítico para a sobrevivência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Segoe UI"/>
              </a:defRPr>
            </a:pPr>
            <a:r>
              <a:t>Sistemas manuais (botões de pânico) falham quando a vítima está inconsciente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Segoe UI"/>
              </a:defRPr>
            </a:pPr>
            <a:r>
              <a:t>Necessidade de detecção automática, em tempo real, sem intervenção do usuário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3657600" cy="27432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C7"/>
                </a:solidFill>
                <a:latin typeface="Segoe UI"/>
              </a:defRPr>
            </a:pPr>
            <a:r>
              <a:t>O DESAFIO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6517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Reduzir o tempo entre a queda e o socorro, utilizando IA para detectar automaticamente e alertar cuidadores em segundos.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Objetivo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Desenvolver um sistema completo de detecção de quedas que integra: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291840" cy="29260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Visão Computacional</a:t>
            </a:r>
            <a:br/>
            <a:r>
              <a:t>+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Câmera + modelo CNN-LSTM</a:t>
            </a:r>
            <a:br/>
            <a:r>
              <a:t>analisa vídeo em tempo real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560320"/>
            <a:ext cx="3291840" cy="29260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Hardware IoT</a:t>
            </a:r>
            <a:br/>
            <a:r>
              <a:t>(ESP32)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Alarme sonoro local</a:t>
            </a:r>
            <a:br/>
            <a:r>
              <a:t>(buzzer + LEDs) via MQTT/Serial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560320"/>
            <a:ext cx="3291840" cy="29260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App Mobile</a:t>
            </a:r>
            <a:br/>
            <a:r>
              <a:t>(React Native)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Notificação remota ao cuidador</a:t>
            </a:r>
            <a:br/>
            <a:r>
              <a:t>(alarme + vibração + emergência)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Arquitetura Geral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3200400" cy="16459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PC + Câmera</a:t>
            </a:r>
            <a:br/>
            <a:r>
              <a:t>MobileNetV2 + LSTM</a:t>
            </a:r>
            <a:br/>
            <a:r>
              <a:t>Detecção de Queda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2560320"/>
            <a:ext cx="3200400" cy="164592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Broker MQTT</a:t>
            </a:r>
            <a:br/>
            <a:r>
              <a:t>(Mosquitto)</a:t>
            </a:r>
            <a:br/>
            <a:r>
              <a:t>porta 1883 / 9001 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645920"/>
            <a:ext cx="3200400" cy="1645920"/>
          </a:xfrm>
          <a:prstGeom prst="rect">
            <a:avLst/>
          </a:prstGeom>
          <a:solidFill>
            <a:srgbClr val="0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App Mobile</a:t>
            </a:r>
            <a:br/>
            <a:r>
              <a:t>(React Native)</a:t>
            </a:r>
            <a:br/>
            <a:r>
              <a:t>Alarme + Vibração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3840480"/>
            <a:ext cx="3200400" cy="164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ESP32</a:t>
            </a:r>
            <a:br/>
            <a:r>
              <a:t>Buzzer + LEDs</a:t>
            </a:r>
            <a:br/>
            <a:r>
              <a:t>Alarme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C7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publish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subscribe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subscribe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Modelo de IA — CNN + LSTM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C40F"/>
                </a:solidFill>
                <a:latin typeface="Segoe UI"/>
              </a:defRPr>
            </a:pPr>
            <a:r>
              <a:t>1. MobileNetV2 (CNN)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Extrai características visuais de cada frame</a:t>
            </a:r>
            <a:br/>
            <a:r>
              <a:t>Transfer Learning — pesos ImageNet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23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6C7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50292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C40F"/>
                </a:solidFill>
                <a:latin typeface="Segoe UI"/>
              </a:defRPr>
            </a:pPr>
            <a:r>
              <a:t>2. TimeDistributed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Aplica a CNN nos 20 frames da janela</a:t>
            </a:r>
            <a:br/>
            <a:r>
              <a:t>temporal individualmente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703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6C7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029200" cy="109728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C40F"/>
                </a:solidFill>
                <a:latin typeface="Segoe UI"/>
              </a:defRPr>
            </a:pPr>
            <a:r>
              <a:t>3. LSTM (64 unidades)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Analisa sequência temporal para</a:t>
            </a:r>
            <a:br/>
            <a:r>
              <a:t>identificar padrão de queda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983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6C7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12079"/>
            <a:ext cx="5029200" cy="109728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03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C40F"/>
                </a:solidFill>
                <a:latin typeface="Segoe UI"/>
              </a:defRPr>
            </a:pPr>
            <a:r>
              <a:t>4. Dense (sigmoid)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499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Classificação binária:</a:t>
            </a:r>
            <a:br/>
            <a:r>
              <a:t>Normal (0) ou Queda (1)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371600"/>
            <a:ext cx="4846320" cy="50292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Entrada e Saída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Entrada: (batch, 20, 128, 128, 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= 20 frames RGB de 128x128 pixels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Saída: valor entre 0.0 e 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  &gt; 0.75 por 3 frames → QUEDA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  ≤ 0.50 → 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7665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Inferência: a cada 5 frames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Confirmação temporal: 3 predições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consecutivas acima do limiar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Dataset e Pipeline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Segoe UI"/>
              </a:defRPr>
            </a:pPr>
            <a:r>
              <a:t>UR Fall Detection Dataset — Universidade de Rzeszów (Polônia)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30 sequências de quedas simuladas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40 sequências de atividades diárias normais (ADL)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Câmeras RGB + sensores de profundidade + acelerômetro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Resolução processada: 128×128 pixels, normalizada [0,1]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Pipeline ETL (Extração, Transformação, Carregamento)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182880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Varredura</a:t>
            </a:r>
            <a:br/>
            <a:r>
              <a:t>Recursiva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4754880"/>
            <a:ext cx="1828800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PNG → AVI</a:t>
            </a:r>
            <a:br/>
            <a:r>
              <a:t>(30 fps)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4754880"/>
            <a:ext cx="1828800" cy="118872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Resize</a:t>
            </a:r>
            <a:br/>
            <a:r>
              <a:t>128×128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199" y="4754880"/>
            <a:ext cx="1828800" cy="11887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Sliding Window</a:t>
            </a:r>
            <a:br/>
            <a:r>
              <a:t>(passo 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9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4754880"/>
            <a:ext cx="1828800" cy="1188720"/>
          </a:xfrm>
          <a:prstGeom prst="rect">
            <a:avLst/>
          </a:prstGeom>
          <a:solidFill>
            <a:srgbClr val="0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Split 80/20</a:t>
            </a:r>
            <a:br/>
            <a:r>
              <a:t>Estratificado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Treinamento e Técnicas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C7"/>
                </a:solidFill>
                <a:latin typeface="Segoe UI"/>
              </a:defRPr>
            </a:pPr>
            <a:r>
              <a:t>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MobileNetV2 pré-treinada (ImageNet)</a:t>
            </a:r>
            <a:br/>
            <a:r>
              <a:t>Fine-tuning: 30 últimas camadas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502920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C7"/>
                </a:solidFill>
                <a:latin typeface="Segoe UI"/>
              </a:defRPr>
            </a:pPr>
            <a:r>
              <a:t>Regularização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Dropout 0.5 na saída LSTM</a:t>
            </a:r>
            <a:br/>
            <a:r>
              <a:t>Early Stopping (paciência = 5 épocas)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502920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C7"/>
                </a:solidFill>
                <a:latin typeface="Segoe UI"/>
              </a:defRPr>
            </a:pPr>
            <a:r>
              <a:t>Otimização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Adam (lr = 1e-4)</a:t>
            </a:r>
            <a:br/>
            <a:r>
              <a:t>Loss: binary crossentropy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4846320" cy="20116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C7"/>
                </a:solidFill>
                <a:latin typeface="Segoe UI"/>
              </a:defRPr>
            </a:pPr>
            <a:r>
              <a:t>Hiperparâmetros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Batch size: 4</a:t>
            </a:r>
            <a:br/>
            <a:r>
              <a:t>Épocas: 30</a:t>
            </a:r>
            <a:br/>
            <a:r>
              <a:t>Sequência: 20 frames</a:t>
            </a:r>
            <a:br/>
            <a:r>
              <a:t>Resolução: 128×128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657600"/>
            <a:ext cx="4846320" cy="20116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C7"/>
                </a:solidFill>
                <a:latin typeface="Segoe UI"/>
              </a:defRPr>
            </a:pPr>
            <a:r>
              <a:t>Conversão TFLite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206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Quantização INT8</a:t>
            </a:r>
            <a:br/>
            <a:r>
              <a:t>Reduz tamanho ~4x</a:t>
            </a:r>
            <a:br/>
            <a:r>
              <a:t>Mais rápido em CPU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Integração com Hardware — ESP32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Segoe UI"/>
              </a:defRPr>
            </a:pPr>
            <a:r>
              <a:t>Comunicação PC ↔ ESP32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468880" cy="1371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Serial (USB)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Simples, sem WiFi</a:t>
            </a:r>
            <a:br/>
            <a:r>
              <a:t>Ideal para testes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011680"/>
            <a:ext cx="2468880" cy="1371600"/>
          </a:xfrm>
          <a:prstGeom prst="rect">
            <a:avLst/>
          </a:prstGeom>
          <a:solidFill>
            <a:srgbClr val="0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MQTT (WiFi)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Sem fio, escalável</a:t>
            </a:r>
            <a:br/>
            <a:r>
              <a:t>Produção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Componentes de 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Buzzer passivo (GPIO 18) — alerta sonoro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LED vermelho (GPIO 19) — alerta visual de queda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LED verde (GPIO 21) — status do sistema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Botão de teste (GPIO 0) — teste manual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4846320" cy="50292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Payload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onsolas"/>
              </a:defRPr>
            </a:pPr>
            <a:r>
              <a:t>{</a:t>
            </a:r>
            <a:br/>
            <a:r>
              <a:t>  "alert": "FALL_DETECTED",</a:t>
            </a:r>
            <a:br/>
            <a:r>
              <a:t>  "confidence": 0.95,</a:t>
            </a:r>
            <a:br/>
            <a:r>
              <a:t>  "timestamp": "2026-03-23...",</a:t>
            </a:r>
            <a:br/>
            <a:r>
              <a:t>  "metadata": {</a:t>
            </a:r>
            <a:br/>
            <a:r>
              <a:t>    "frame_id": 1234,</a:t>
            </a:r>
            <a:br/>
            <a:r>
              <a:t>    "model": "CNN-LSTM"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Aplicativo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Segoe UI"/>
              </a:defRPr>
            </a:pPr>
            <a:r>
              <a:t>React Native + Expo SDK 54 (TypeScript)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Conexão MQTT via WebSocket (porta 9001)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Alarme sonoro + vibração ao detectar queda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Tela de alarme em tela cheia com botão de emergência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Histórico de eventos com filtros por tipo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Persistência local (AsyncStorage)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Limiar de confiança configurável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Discagem direta para emergência (SAMU 192)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371600"/>
            <a:ext cx="2194560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Status de conexão</a:t>
            </a:r>
            <a:br/>
            <a:r>
              <a:t>Últimos eventos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7550455680" y="1371600"/>
            <a:ext cx="2194560" cy="228600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755054712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Alarme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550547120" y="21031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Tela cheia</a:t>
            </a:r>
            <a:br/>
            <a:r>
              <a:t>Botão emergência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341157979600"/>
            <a:ext cx="2194560" cy="228600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41158162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Histórico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411587111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Lista filtrada</a:t>
            </a:r>
            <a:br/>
            <a:r>
              <a:t>Detalhes por evento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7550455680" y="2341157979600"/>
            <a:ext cx="2194560" cy="2286000"/>
          </a:xfrm>
          <a:prstGeom prst="rect">
            <a:avLst/>
          </a:prstGeom>
          <a:solidFill>
            <a:srgbClr val="0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7550547120" y="2341158162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550547120" y="23411587111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IP do broker</a:t>
            </a:r>
            <a:br/>
            <a:r>
              <a:t>Limiar de confiança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Resultados Alcançados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Sistema funcional ponta a ponta (câmera → detecção → alerta)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Modelo CNN-LSTM treinado e validado no UR Fall Detection Dataset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Pipeline ETL automatizado (PNG → vídeo → amostras de treino)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Detecção em tempo real via webcam ou arquivo de vídeo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Integração simultânea: ESP32 (alarme local) + App (alarme remoto)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Protocolo MQTT padronizado com payload JSON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Conversão TFLite para inferência otimizada em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Stack Tecnológico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691640" cy="12801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C40F"/>
                </a:solidFill>
                <a:latin typeface="Segoe UI"/>
              </a:defRPr>
            </a:pPr>
            <a:r>
              <a:t>IA/ML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TensorFlow + Keras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5029200"/>
            <a:ext cx="1691640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59" y="5120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C40F"/>
                </a:solidFill>
                <a:latin typeface="Segoe UI"/>
              </a:defRPr>
            </a:pPr>
            <a:r>
              <a:t>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59" y="553212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OpenCV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5029200"/>
            <a:ext cx="1691640" cy="128016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5120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C40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553212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Python 3.10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5029200"/>
            <a:ext cx="1691640" cy="128016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5120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C40F"/>
                </a:solidFill>
                <a:latin typeface="Segoe UI"/>
              </a:defRPr>
            </a:pPr>
            <a:r>
              <a:t>Comunicação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553212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MQTT / Mosquitto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9" y="5029200"/>
            <a:ext cx="1691640" cy="1280160"/>
          </a:xfrm>
          <a:prstGeom prst="rect">
            <a:avLst/>
          </a:prstGeom>
          <a:solidFill>
            <a:srgbClr val="0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5120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C40F"/>
                </a:solidFill>
                <a:latin typeface="Segoe UI"/>
              </a:defRPr>
            </a:pPr>
            <a:r>
              <a:t>Mobile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553212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React Native / Expo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04120" y="5029200"/>
            <a:ext cx="1691640" cy="1280160"/>
          </a:xfrm>
          <a:prstGeom prst="rect">
            <a:avLst/>
          </a:prstGeom>
          <a:solidFill>
            <a:srgbClr val="6C3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5120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C40F"/>
                </a:solidFill>
                <a:latin typeface="Segoe UI"/>
              </a:defRPr>
            </a:pPr>
            <a:r>
              <a:t>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553212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ESP32 + Arduino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Dificuldades e Soluções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Segoe UI"/>
              </a:defRPr>
            </a:pPr>
            <a:r>
              <a:t>Compatibilidade TensorFlow /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TF 2.11+ não suporta GPU nativo no Windows.</a:t>
            </a:r>
            <a:br/>
            <a:r>
              <a:t>Solução: Python 3.10 + TF 2.10, inferência otimizada em CPU via TFLite.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Segoe UI"/>
              </a:defRPr>
            </a:pPr>
            <a:r>
              <a:t>Heterogeneidade do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Estrutura de pastas inconsistente no UR Fall.</a:t>
            </a:r>
            <a:br/>
            <a:r>
              <a:t>Solução: busca recursiva (os.walk) agnóstica à estrutura.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Segoe UI"/>
              </a:defRPr>
            </a:pPr>
            <a:r>
              <a:t>Performance em Hardware Limitado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Inferência pesada para CPU de notebook.</a:t>
            </a:r>
            <a:br/>
            <a:r>
              <a:t>Solução: skip frames, confirmação temporal, TFLite com quantização INT8.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12079"/>
            <a:ext cx="10515600" cy="10972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Segoe UI"/>
              </a:defRPr>
            </a:pPr>
            <a:r>
              <a:t>Falsos Positivos Temporais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499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Modelo alertava queda antes da pessoa cair de fato.</a:t>
            </a:r>
            <a:br/>
            <a:r>
              <a:t>Solução: limiar conservador (0.75) + 3 predições consecutivas.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Conclusão e 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Sistema completo e funcional: detecção → alerta local + remoto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Arquitetura modular e extensível (novos sensores, mais dados)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Viabilidade técnica e científica demonstrada para aplicação real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Código aberto no GitHub para reprodutibilidade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t>Próximos Passos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Testes em ambiente residencial real com idosos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Ampliar dataset com mais vídeos e cenários diversos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Otimização para deploy embarcado (Raspberry Pi / Jetson Nano)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Publicação de artigo científico com resultados finais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Referências Bibliográficas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KWOLEK, B.; KEPSKI, M. Human fall detection on embedded platform using depth maps and wireless accelerometer. Computer Methods and Programs in Biomedicine, v. 117, n. 3, p. 489–501, 2014.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LU, N.; WU, Y.; FENG, L.; SONG, J. Deep Learning for Fall Detection: Three-Dimensional CNN Combined With LSTM on Video Kinematic Data. IEEE JBHI, v. 23, n. 1, p. 314–323, 2019.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CHHETRI, S. et al. Deep learning for vision-based fall detection system: Enhanced optical dynamic flow. arXiv:2104.05744, 2021.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MUBASHIR, M.; SHAO, L.; SEED, L. A survey on fall detection: Principles and approaches. Neurocomputing, v. 100, p. 144–152, 2013.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QIAN, B.; LIU, L. DeepFall: Skeleton-based fall detection using recurrent neural networks. Master Thesis, KU Leuven, 2019.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Obrigado!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926080"/>
            <a:ext cx="3657600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  <a:latin typeface="Segoe UI"/>
              </a:defRPr>
            </a:pPr>
            <a:r>
              <a:t>Nelson Emeliano Silva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github.com/Nelson-esilva/Fall-Detect-System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PAIC/FAPEAM — UEA — 2025/2026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